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98781"/>
                </a:solidFill>
                <a:latin typeface="Segoe UI"/>
              </a:rPr>
              <a:t>EPIC MEGAGRANT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B0B0B"/>
                </a:solidFill>
                <a:latin typeface="Segoe UI"/>
              </a:rPr>
              <a:t>Traffic Simulation Plugin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A78D6"/>
                </a:solidFill>
                <a:latin typeface="Segoe UI"/>
              </a:rPr>
              <a:t>for Unreal Engine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24528"/>
            <a:ext cx="1463040" cy="365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514E"/>
                </a:solidFill>
                <a:latin typeface="Segoe UI"/>
              </a:rPr>
              <a:t>Believable street traffic as ordinary Actors — spline road networks, signalised junctions with real right-of-way arbitration, and the tooling to see why the traffic is doing what it is doing.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044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Zeshan Rasul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898781"/>
                </a:solidFill>
                <a:latin typeface="Segoe UI"/>
              </a:rPr>
              <a:t>Working prototype  ·  MIT licensed  ·  Unreal Engine 5.8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0B0B"/>
                </a:solidFill>
                <a:latin typeface="Segoe UI"/>
              </a:rPr>
              <a:t>Most projects aren't building CitySample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17904"/>
            <a:ext cx="914400" cy="27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Unreal already ships a large-scale traffic system in CitySample, built on Mass Entity and ZoneGraph. It is impressive and it scales to a city.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It is also sample content rather than a supported drop-in plugin, and using it means adopting an ECS architecture and learning its tooling.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The far more common need is a few hundred believable vehicles on a handful of streets — configured by designers, inspectable when something looks wrong.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874519"/>
          <a:ext cx="50292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6916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This plugin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MassTraffic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Architecture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Ordinary Actors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Mass Entity (ECS)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Details panel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ECS traits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Scale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Hundreds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Tens of thousands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Learning curve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Place an actor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Learn Mass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Plugin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Sample content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461772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It is not a MassTraffic replacement.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If you need city-scale crowds, use Mass. This is the option for the case where traffic has to read convincingly and be reasoned about.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0B0B"/>
                </a:solidFill>
                <a:latin typeface="Segoe UI"/>
              </a:rPr>
              <a:t>Three ideas do most of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17904"/>
            <a:ext cx="914400" cy="27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One lane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429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Roads and junctions both implement ITrafficLaneProvider, so a vehicle drives a junction connector with exactly the same code it uses on a road. Roads evaluate lanes from their spline; junctions interpolate baked samples. A vehicle never needs to know which it is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138928"/>
            <a:ext cx="3429000" cy="960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285232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Connectors are sampled by true arc length, so speed stays constant through a 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1874519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2402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Junction arbitration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880360"/>
            <a:ext cx="3429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Conflicts are derived from actual path crossings, then resolved FIFO by arrival ticket. Entry is refused unless the exit lane has room — no blocking the box. Clearance is per-pair and positional: a turning vehicle blocks oncoming traffic only until it is past the meeting 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5138928"/>
            <a:ext cx="3429000" cy="960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5285232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This cannot deadlock: the earliest movable ticket is always grantable.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874519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2402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Car following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880360"/>
            <a:ext cx="3429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Target speed is the minimum of the desired speed, a Gipps-style safe speed √(v² + 2·b·gap), and a time-headway comfort limit. The safe-speed term is the collision guarantee; the headway term is what makes queues look natural.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9912" y="5138928"/>
            <a:ext cx="3429000" cy="960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5285232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Both account for the leader's speed, so a steady platoon is not slowed merely for being close.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98781"/>
                </a:solidFill>
                <a:latin typeface="Segoe UI"/>
              </a:rPr>
              <a:t>11 automation tests cover the lane maths and junction arbitration, including a test that every queued vehicle eventually gets through.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0B0B"/>
                </a:solidFill>
                <a:latin typeface="Segoe UI"/>
              </a:rPr>
              <a:t>500 vehicles, 16 signalised junctions, 3.4 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17904"/>
            <a:ext cx="914400" cy="27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Simulation time is measured directly, not inferred from frame time — a frame-rate cap makes frame time meaningless, because the engine simply idles to hit the deadline.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926080"/>
          <a:ext cx="557784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463040"/>
                <a:gridCol w="146304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Vehicles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Simulation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µs / vehicle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Flow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0.18 ms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3.6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60%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0.94 ms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4.7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38%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3.36 ms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23%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4632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</a:rPr>
              <a:t>Flow is reported beside every timing because a saturated network is a different workload from a free-flowing one, and a timing figure without it is not interpretable. These runs deliberately loaded the network to saturation.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74519"/>
            <a:ext cx="4709160" cy="420624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9456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HOW IT SCALES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651760"/>
            <a:ext cx="4069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78D6"/>
                </a:solidFill>
                <a:latin typeface="Segoe UI"/>
              </a:rPr>
              <a:t>T = 3.23 µs·N + 7.0×10⁻⁶ ms·N²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291840"/>
            <a:ext cx="4069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Fits to within 1.5% across the measured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703320"/>
            <a:ext cx="4069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Linear below ~460 vehicles</a:t>
            </a:r>
            <a:r>
              <a:rPr sz="1400">
                <a:solidFill>
                  <a:srgbClr val="52514E"/>
                </a:solidFill>
                <a:latin typeface="Segoe UI"/>
              </a:rPr>
              <a:t> — the per-vehicle update dominates.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Quadratic above it</a:t>
            </a:r>
            <a:r>
              <a:rPr sz="1400">
                <a:solidFill>
                  <a:srgbClr val="52514E"/>
                </a:solidFill>
                <a:latin typeface="Segoe UI"/>
              </a:rPr>
              <a:t> — the O(N²) neighbour search takes over.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~10 ms at 1000 vehicles</a:t>
            </a:r>
            <a:r>
              <a:rPr sz="1400">
                <a:solidFill>
                  <a:srgbClr val="52514E"/>
                </a:solidFill>
                <a:latin typeface="Segoe UI"/>
              </a:rPr>
              <a:t> extrapolated.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A spatial grid is the known fix</a:t>
            </a:r>
            <a:r>
              <a:rPr sz="1400">
                <a:solidFill>
                  <a:srgbClr val="52514E"/>
                </a:solidFill>
                <a:latin typeface="Segoe UI"/>
              </a:rPr>
              <a:t> and is on the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EMERGENT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0B0B"/>
                </a:solidFill>
                <a:latin typeface="Segoe UI"/>
              </a:rPr>
              <a:t>Congestion forms — and clears — on its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17904"/>
            <a:ext cx="914400" cy="27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One signal plan is swung to starve an axis across all 16 junctions, then biased back to work the backlog off.</a:t>
            </a:r>
          </a:p>
        </p:txBody>
      </p:sp>
      <p:pic>
        <p:nvPicPr>
          <p:cNvPr id="6" name="Picture 5" descr="co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0"/>
            <a:ext cx="6949440" cy="39090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18120" y="2377440"/>
            <a:ext cx="3611880" cy="3913632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26334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WHAT THE RUN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3017520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B6834"/>
                </a:solidFill>
                <a:latin typeface="Segoe UI"/>
              </a:rPr>
              <a:t>68% → 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336499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network flow, baseline to the deepest point of the restriction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3913632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B6834"/>
                </a:solidFill>
                <a:latin typeface="Segoe UI"/>
              </a:rPr>
              <a:t>63 of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426110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vehicles stopped at once at peak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4809744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B6834"/>
                </a:solidFill>
                <a:latin typeface="Segoe UI"/>
              </a:rPr>
              <a:t>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515721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flow recovered, back to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0728" y="5669280"/>
            <a:ext cx="3017520" cy="1828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58338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Flow keeps falling for 11 seconds after the restriction is lifted.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WHERE IT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0B0B"/>
                </a:solidFill>
                <a:latin typeface="Segoe UI"/>
              </a:rPr>
              <a:t>Known limits, and what closes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17904"/>
            <a:ext cx="914400" cy="27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KNOWN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No rerouting.</a:t>
            </a:r>
            <a:r>
              <a:rPr sz="1500">
                <a:solidFill>
                  <a:srgbClr val="52514E"/>
                </a:solidFill>
                <a:latin typeface="Segoe UI"/>
              </a:rPr>
              <a:t> Vehicles pick a random successor at each junction. A blocked route stays blocked.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No lane changing.</a:t>
            </a:r>
            <a:r>
              <a:rPr sz="1500">
                <a:solidFill>
                  <a:srgbClr val="52514E"/>
                </a:solidFill>
                <a:latin typeface="Segoe UI"/>
              </a:rPr>
              <a:t> One slow lorry holds up everything behind it.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Hundreds, not thousands.</a:t>
            </a:r>
            <a:r>
              <a:rPr sz="1500">
                <a:solidFill>
                  <a:srgbClr val="52514E"/>
                </a:solidFill>
                <a:latin typeface="Segoe UI"/>
              </a:rPr>
              <a:t> Actor-based, so ~500 vehicles at 3.4 ms.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O(N²) neighbour search.</a:t>
            </a:r>
            <a:r>
              <a:rPr sz="1500">
                <a:solidFill>
                  <a:srgbClr val="52514E"/>
                </a:solidFill>
                <a:latin typeface="Segoe UI"/>
              </a:rPr>
              <a:t> Deliberately unoptimised until it is the dominant cost.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No pedestrians or parking.</a:t>
            </a:r>
            <a:r>
              <a:rPr sz="1500">
                <a:solidFill>
                  <a:srgbClr val="52514E"/>
                </a:solidFill>
                <a:latin typeface="Segoe UI"/>
              </a:rPr>
              <a:t> Junction approaches are single-lane.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Congestion-aware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237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Per-lane cost and successor choice that avoids blocked routes. The single largest improvement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358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358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Lane changing and overtaking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735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Needed before routing is fully useful.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856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8561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Spatial partitioning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23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Lifts the practical ceiling past a thousand vehicles.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3542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354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Editor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Junction placement and signal-phase authoring in the viewport.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8523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6834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2852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Multi-lane approaches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5229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With turn-restricted lanes.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870448"/>
            <a:ext cx="10637215" cy="2743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Actor-based, configured in the details panel, and inspectable when something looks wrong — for the many projects that need believable street traffic rather than city-scale crowds.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0B0B"/>
                </a:solidFill>
                <a:latin typeface="Segoe UI"/>
              </a:rPr>
              <a:t>$40,000, mapped to the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17904"/>
            <a:ext cx="914400" cy="27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070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2377440"/>
                <a:gridCol w="173736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Allocation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Delivers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Amount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Share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Congestion-aware routing and lane changing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Roadmap 1–2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$17,000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42.5%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Spatial partitioning, editor tooling, multi-lane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Roadmap 3–5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$11,000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27.5%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Demo content and sample project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Ships with the plugin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$4,000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Documentation and tutorials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Ships with the plugin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$3,000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7.5%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Fab submission and community launch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Distribution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$2,000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5%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Testing, infrastructure and software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Ongoing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$2,000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5%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Contingency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$1,000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2.5%</a:t>
                      </a:r>
                    </a:p>
                  </a:txBody>
                  <a:tcPr anchor="ctr" marL="109728" marR="109728" marT="0" marB="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$40,000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109728" marR="109728" marT="0" marB="0"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532120"/>
            <a:ext cx="10637215" cy="8686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69671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Delivered over six months, in the roadmap order above. Everything the grant funds is released under the MIT licence — free to the Unreal community, with no revenue share and no exclusivity.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